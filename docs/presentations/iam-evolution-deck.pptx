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15901"/>
            <a:ext cx="77724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Access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91000" y="1635026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825526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Evolution, Architecture &amp; Modern Landscape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2374702"/>
            <a:ext cx="777240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Sun OpenSSO to Cloud-Native IAM — A 20-Year Technical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004691"/>
            <a:ext cx="777240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30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Git Repositories | 250,000+ Commits | 683 Pages of Reference Docs | 40+ Protocols | 30+ CVEs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Origins: Sun to Oracle (2005-2010)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2005: Sun Access Manager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89386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Microsystems creates Access Manager for Java Enterprise System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Monolithic J2EE architecture, LDAP-first design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 1.1, Liberty Alliance federation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2204889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2008: OpenSSO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493764"/>
            <a:ext cx="3937099" cy="44693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open-sources as OpenSSO under CDDL license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grows rapidly; enterprise adoption begins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2010: Oracle Acquires Sun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98950" y="1234827"/>
            <a:ext cx="3937099" cy="64502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discontinues OpenSSO community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Folds technology into Oracle Access Manager (commercial)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98950" y="1956048"/>
            <a:ext cx="3937099" cy="972145"/>
          </a:xfrm>
          <a:prstGeom prst="rect">
            <a:avLst/>
          </a:prstGeom>
          <a:solidFill>
            <a:srgbClr val="5DADE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22763" y="1956048"/>
            <a:ext cx="0" cy="972145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8975" y="2057549"/>
            <a:ext cx="3656368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Decision: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ForgeRock (founded 2010) forks OpenSSO, creating the open-source ForgeRock Identity Platform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77151" y="4805809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ForgeRock Era (2010-2016)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Golden 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134079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components: OpenAM, OpenDJ, OpenIDM, OpenIG, OpenICF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Edition released alongside commercial product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Peak: 200+ contributors, regular releases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 2.0, OAuth 2.0, OIDC, XACML 3.0, UMA 2.0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1022152"/>
            <a:ext cx="3937099" cy="510183"/>
          </a:xfrm>
          <a:prstGeom prst="rect">
            <a:avLst/>
          </a:prstGeom>
          <a:solidFill>
            <a:srgbClr val="5DADE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22763" y="1022152"/>
            <a:ext cx="0" cy="510183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8975" y="1123652"/>
            <a:ext cx="365636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250,000+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total commits across 7 repositories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98950" y="1608534"/>
            <a:ext cx="3937099" cy="510183"/>
          </a:xfrm>
          <a:prstGeom prst="rect">
            <a:avLst/>
          </a:prstGeom>
          <a:solidFill>
            <a:srgbClr val="5DADE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22763" y="1608534"/>
            <a:ext cx="0" cy="510183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8975" y="1710035"/>
            <a:ext cx="365636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34+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authentication modules in OpenAM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8950" y="2194917"/>
            <a:ext cx="3937099" cy="510183"/>
          </a:xfrm>
          <a:prstGeom prst="rect">
            <a:avLst/>
          </a:prstGeom>
          <a:solidFill>
            <a:srgbClr val="5DADE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22763" y="2194917"/>
            <a:ext cx="0" cy="510183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8975" y="2296418"/>
            <a:ext cx="365636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identity protocols implemented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77151" y="4805809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Fork: November 2016 to Present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8128099" cy="510183"/>
          </a:xfrm>
          <a:prstGeom prst="rect">
            <a:avLst/>
          </a:prstGeom>
          <a:solidFill>
            <a:srgbClr val="E74C3C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945952"/>
            <a:ext cx="0" cy="510183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7975" y="1047452"/>
            <a:ext cx="793118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2016: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ForgeRock closes source code. 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 drop in commit velocity within one year.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1583085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Identity Platform (2017)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7950" y="1871960"/>
            <a:ext cx="3937099" cy="94461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breadth: 52 modules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Guice 7.0, Cassandra HA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11+ support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releases through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8950" y="1583085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Wren Security (2018)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98950" y="1871960"/>
            <a:ext cx="3937099" cy="94461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modernization focus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17+, Jakarta EE 5.0, SLF4J 2.0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Intentional simplification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Renamed: Wren:AM, Wren:DS, Wren:IDM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77151" y="4805809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OIP Component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022152"/>
            <a:ext cx="3937099" cy="510183"/>
          </a:xfrm>
          <a:prstGeom prst="rect">
            <a:avLst/>
          </a:prstGeom>
          <a:solidFill>
            <a:srgbClr val="5DADE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022152"/>
            <a:ext cx="0" cy="510183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7975" y="1123652"/>
            <a:ext cx="365636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North-South Flow (User Access)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1608534"/>
            <a:ext cx="3937099" cy="69577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Users/Apps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OpenIG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(gateway, reverse proxy)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OpenIG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OpenAM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(SSO, auth, federation)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OpenAM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OpenDJ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(LDAP identity store)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2431256"/>
            <a:ext cx="3937099" cy="510183"/>
          </a:xfrm>
          <a:prstGeom prst="rect">
            <a:avLst/>
          </a:prstGeom>
          <a:solidFill>
            <a:srgbClr val="5DADE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2431256"/>
            <a:ext cx="0" cy="510183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7975" y="2532757"/>
            <a:ext cx="365636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East-West Flow (Provisioning)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950" y="3017639"/>
            <a:ext cx="3937099" cy="44693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OpenIDM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(lifecycle mgmt) → 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OpenICF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(connectors)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OpenICF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External Systems (HR, DB, LDAP, Cloud)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Versions (OIP)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8950" y="1234827"/>
            <a:ext cx="3937099" cy="119345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OpenAM 16.0.5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SSO, 34+ auth modules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OpenDJ 5.0.3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LDAPv3, multi-master replication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OpenIDM 7.0.2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Provisioning, BPMN workflows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OpenIG 6.0.2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39 filters, 16 handlers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OpenICF 2.0.2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LDAP, DB, CSV, SSH connectors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77151" y="4805809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Evolution: 30 Years of Identity Standards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8128099" cy="218881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1993: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LDAPv3 (RFC 4511) — Directory access, still foundational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2001: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SAML 1.0 → 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SAML 2.0 — Enterprise federation standard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Kerberos V5 (RFC 4120) — On-prem SSO (Active Directory)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OAuth 2.0 (RFC 6749) — Delegated authorization framework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OpenID Connect 1.0 — Identity layer on OAuth 2.0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SCIM 2.0 (RFC 7644) — Cross-domain provisioning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WebAuthn (W3C) — Browser-native passwordless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Passkeys (FIDO Alliance) — Cross-device passwordless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OAuth 2.1 (draft), DPoP tokens, Verifiable Credentials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877151" y="4805809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OpenAM: Unmatched Protocol Breadth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(34+ modules)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144229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LDAP, AD, JDBC, RADIUS, Certificate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HOTP, TOTP, Push, WebAuthn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2.0, OIDC, Social Login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Kerberos/Windows Desktop SSO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 2.0 IdP + SP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Scripted (Groovy/JS) for custom auth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Federation &amp; Authorization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98950" y="1234827"/>
            <a:ext cx="3937099" cy="144229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 2.0 IdP/SP with metadata exchange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Authorization Server (all grants)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OpenID Connect Provider (certified)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WS-Federation, WS-Trust (unique)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2.0 (User-Managed Access)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XACML 3.0 policy engine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2753320"/>
            <a:ext cx="3937099" cy="741164"/>
          </a:xfrm>
          <a:prstGeom prst="rect">
            <a:avLst/>
          </a:prstGeom>
          <a:solidFill>
            <a:srgbClr val="5DADE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22763" y="2753320"/>
            <a:ext cx="0" cy="741164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8975" y="2854821"/>
            <a:ext cx="3656368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modern platform matches this breadth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 single deployment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77151" y="4805809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Formats &amp; Session Management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Evolution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218390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Kerberos Tickets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Binary, time-limited, on-prem only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 Assertions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XML-signed, enterprise federation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(RFC 7519)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JSON, compact, stateless validation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DPoP Tokens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Proof-of-possession, prevents token theft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Credentials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Decentralized, user-controlled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98950" y="1234827"/>
            <a:ext cx="3937099" cy="94461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sessions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(OpenAM CTS store)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JWT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 server state, harder to revoke)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introspection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(RFC 7662, real-time validation)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token rotation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(prevents replay attacks)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2255639"/>
            <a:ext cx="3937099" cy="741164"/>
          </a:xfrm>
          <a:prstGeom prst="rect">
            <a:avLst/>
          </a:prstGeom>
          <a:solidFill>
            <a:srgbClr val="5DADE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22763" y="2255639"/>
            <a:ext cx="0" cy="741164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8975" y="2357140"/>
            <a:ext cx="3656368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Trend: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Moving from opaque server-side tokens to cryptographic proof-of-possession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77151" y="4805809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Architecture: OpenAM vs Modern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OpenAM (Server-Side)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119345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Token Service (CTS) in OpenDJ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stickiness or replication required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Cassandra backend for horizontal scale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Cross-domain SSO via cookie + redirect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quotas and constraints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Approaches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98950" y="1234827"/>
            <a:ext cx="3937099" cy="94461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Stateless JWT + short-lived access tokens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Keycloak: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Hybrid (server sessions + offline tokens)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Auth0: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Rotating refresh tokens, silent auth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Zitadel: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Event-sourced sessions, immutable audit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2255639"/>
            <a:ext cx="3937099" cy="741164"/>
          </a:xfrm>
          <a:prstGeom prst="rect">
            <a:avLst/>
          </a:prstGeom>
          <a:solidFill>
            <a:srgbClr val="5DADE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22763" y="2255639"/>
            <a:ext cx="0" cy="741164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8975" y="2357140"/>
            <a:ext cx="3656368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shift: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centralized session stores to distributed token validation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77151" y="4805809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OpenAM vs Modern: Architecture Gap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OpenAM (2005 Architecture)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144229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Monolithic WAR deployment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JAAS authentication chains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Jato UI framework (legacy JSP)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LDAP coupling (OpenDJ embedded)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 configuration store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EE / Servlet container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Platforms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98950" y="1234827"/>
            <a:ext cx="3937099" cy="144229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independent Go microservices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Zitadel: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Single Go binary, event-sourced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Keycloak: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Quarkus-based, React admin UI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PostgreSQL/CockroachDB as identity store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 design, Kubernetes-native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deployment (containers)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13602" y="48058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Comparison: OpenAM vs Alternatives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OpenAM Leads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119345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WS-Federation support (unique among OSS)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XACML 3.0 policy engine (Keycloak lacks)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34+ auth modules vs 15-20 in Keycloak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2.0 (rare in modern platforms)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vendor lock-in (CDDL license, full source)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Modern Platforms Lead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98950" y="1234827"/>
            <a:ext cx="3937099" cy="119345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experience (SDKs, docs, UX)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Operator (Keycloak)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sourcing + immutable audit (Zitadel)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Passwordless-first (passkeys native)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 extensibility (Ory, Auth0 Actions)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22085" y="4805809"/>
            <a:ext cx="1211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OpenDJ: LDAP Persists but Is Being Demoted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OpenDJ Strengths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119345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Multi-master replication (2-4 nodes)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REST-to-LDAP gateway (HTTP/JSON over LDAP)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RxJava 3 reactive client API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1,927 Java files in server-legacy module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DEB, RPM, Docker, OpenShift packaging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Direction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98950" y="1234827"/>
            <a:ext cx="3937099" cy="119345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Keycloak: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PostgreSQL as identity store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Zitadel: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CockroachDB / PostgreSQL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PostgreSQL, MySQL, CockroachDB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SCIM 2.0 replacing LDAP as wire protocol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LDAP becoming compatibility interface only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2504480"/>
            <a:ext cx="3937099" cy="741164"/>
          </a:xfrm>
          <a:prstGeom prst="rect">
            <a:avLst/>
          </a:prstGeom>
          <a:solidFill>
            <a:srgbClr val="5DADE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22763" y="2504480"/>
            <a:ext cx="0" cy="741164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8975" y="2605980"/>
            <a:ext cx="3656368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 OpenDJ for existing LDAP dependencies. Avoid building new ones.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13602" y="48058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OpenIDM: Identity Lifecycle Management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119345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OSGi-based (Apache Felix) — unique among OIP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engine + reconciliation for JML flows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BPMN 2.0 workflows (Activiti engine)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repo: JDBC (PostgreSQL/MySQL) + OrientDB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OpenICF connector integration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IGA Landscape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98950" y="1234827"/>
            <a:ext cx="3937099" cy="11427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SailPoint: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AI-driven governance, cloud-first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Saviynt: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Converged IAM + IGA + PAM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MidPoint: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OSS alternative (Evolveum)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IGA moving to SaaS with AI-assisted access reviews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2453729"/>
            <a:ext cx="3937099" cy="741164"/>
          </a:xfrm>
          <a:prstGeom prst="rect">
            <a:avLst/>
          </a:prstGeom>
          <a:solidFill>
            <a:srgbClr val="5DADE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22763" y="2453729"/>
            <a:ext cx="0" cy="741164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8975" y="2555230"/>
            <a:ext cx="3656368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gap: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OpenIDM lacks AI/ML-driven access certifications that commercial IGA provides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13602" y="48058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OpenIG &amp; OpenICF: Gateway + Connectors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OpenIG (Identity Gateway)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94461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filter types, 16 handler types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route configuration (hot-reloadable)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replay (PasswordReplayFilter)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 SP, OAuth2 resource server, UMA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2255639"/>
            <a:ext cx="3937099" cy="741164"/>
          </a:xfrm>
          <a:prstGeom prst="rect">
            <a:avLst/>
          </a:prstGeom>
          <a:solidFill>
            <a:srgbClr val="E74C3C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1763" y="2255639"/>
            <a:ext cx="0" cy="741164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7975" y="2357140"/>
            <a:ext cx="3656368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replay has NO modern equivalent.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OpenIG as a bridge for legacy apps.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OpenICF (Connector Framework)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98950" y="1234827"/>
            <a:ext cx="3937099" cy="94461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SPI/API split with Protobuf RPC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Connectors: LDAP, DB, CSV, SSH, Kerberos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Groovy scripted connector for custom targets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connector server (gRPC)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8950" y="2255639"/>
            <a:ext cx="3937099" cy="741164"/>
          </a:xfrm>
          <a:prstGeom prst="rect">
            <a:avLst/>
          </a:prstGeom>
          <a:solidFill>
            <a:srgbClr val="5DADE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22763" y="2255639"/>
            <a:ext cx="0" cy="741164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8975" y="2357140"/>
            <a:ext cx="3656368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MidPoint ConnId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fork of OpenICF — highest migration compatibility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13602" y="48058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Architectural Shifts in IAM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169113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Monolithic WAR → Microservices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LDAP-first → PostgreSQL/CockroachDB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 deployment → Kubernetes-native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sessions → Stateless tokens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 config → API-first + GitOps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Java-only → Go, Rust, polyglot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→ SaaS / Hybrid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98950" y="1234827"/>
            <a:ext cx="3937099" cy="169113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Password-first → Passwordless / Passkeys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security → Zero Trust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identity only → Workload identity (SPIFFE)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policies → Risk-adaptive / AI-driven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only → ABAC + ReBAC + PBAC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IdP → Decentralized (VCs, DID)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only → Auth + ITDR detection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13602" y="48058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These Shifts Mean for OIP Deployments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OIP Stack Constraints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139154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WAR-based: no Kubernetes Operator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LDAP-coupled: scaling limited by directory replication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JAAS chains: not composable like modern flows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Jato UI: cannot compete with React/Angular admin UIs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event sourcing: audit requires explicit configuration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OIP Stack Advantages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98950" y="1234827"/>
            <a:ext cx="3937099" cy="119345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source code access (CDDL) — no vendor lock-in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of battle-tested enterprise deployments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protocol coverage (WS-Fed, XACML, UMA)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 modular structure hints at decomposition paths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community maintaining security patches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13602" y="48058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Passwordless Future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WebAuthn &amp; Passkeys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139154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WebAuthn (W3C 2019):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Browser API for public-key auth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FIDO2: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WebAuthn + CTAP2 (hardware tokens)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Passkeys (2022):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Synced across devices via cloud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Apple, Google, Microsoft all support passkeys natively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Phishing-resistant by design (origin-bound)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Status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98950" y="1234827"/>
            <a:ext cx="3937099" cy="94461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OIP OpenAM 16.x: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WebAuthn module added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Keycloak: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passkey support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Auth0/Okta: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Passkey-first flows available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Ory/Zitadel: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Native passkey support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2255639"/>
            <a:ext cx="3937099" cy="741164"/>
          </a:xfrm>
          <a:prstGeom prst="rect">
            <a:avLst/>
          </a:prstGeom>
          <a:solidFill>
            <a:srgbClr val="5DADE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22763" y="2255639"/>
            <a:ext cx="0" cy="741164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8975" y="2357140"/>
            <a:ext cx="3656368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2027: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Gartner predicts 50%+ of workforce logins will be passwordless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13602" y="48058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Passwordless Adoption: Where We Are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 Today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94461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Consumer: Social login + passkeys (Google, Apple)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Enterprise: Windows Hello + FIDO2 keys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B2B: Certificate-based + SAML federation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MFA: TOTP + push notifications as bridge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Challenges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98950" y="1234827"/>
            <a:ext cx="3937099" cy="94461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recovery without passwords is hard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devices and kiosk scenarios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passkey sync inconsistencies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apps that only accept username/password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2255639"/>
            <a:ext cx="3937099" cy="741164"/>
          </a:xfrm>
          <a:prstGeom prst="rect">
            <a:avLst/>
          </a:prstGeom>
          <a:solidFill>
            <a:srgbClr val="5DADE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22763" y="2255639"/>
            <a:ext cx="0" cy="741164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8975" y="2357140"/>
            <a:ext cx="3656368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OpenIG credential replay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bridges legacy apps to modern passwordless flows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13602" y="48058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Framework: Access Management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8128099" cy="164038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ForgeRock CE 11.0.3?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immediately.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pre-auth RCE exploits (CVE-2021-35464, CVSS 9.8)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OIP OpenAM in production?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Viable. Pin to latest, monitor CVEs, plan gradual modernization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Greenfield, cloud-native?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Keycloak (self-hosted) or Auth0/Okta (SaaS)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Greenfield, microservices?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Ory Stack (decomposed) or Zitadel (single binary)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WS-Federation or XACML required?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OpenAM is the only viable OSS option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app integration?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OpenIG credential replay (no modern equivalent)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813602" y="48058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Framework: Directory &amp; IGA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Services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11427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LDAP still required?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OpenDJ or 389 DS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Greenfield?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PostgreSQL. Avoid new LDAP dependencies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integration?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Entra ID + AD Connect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Multi-master replication?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OpenDJ excels here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Governance (IGA)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98950" y="1234827"/>
            <a:ext cx="3937099" cy="94461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IGA needed?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SailPoint or Saviynt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Budget/air-gap constraint?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OpenIDM + OpenICF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 IGA?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MidPoint (most active OSS IGA)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provisioning?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SCIM 2.0 endpoints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13602" y="48058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Privileged Access Management (PAM)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PAM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109195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CyberArk: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Market leader; vault + session recording + JIT; Privilege Cloud SaaS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Delinea: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Secret Server; JIT elevation; SaaS platform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BeyondTrust: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Password Safe; EPM for Win/Mac/Linux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/ OSS PAM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98950" y="1234827"/>
            <a:ext cx="3937099" cy="89386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HashiCorp Vault: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Dynamic secrets, PKI, transit encryption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OpenBao: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MPL 2.0 fork of Vault (post-BSL)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Zero-trust access proxy, JIT credentials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2204889"/>
            <a:ext cx="3937099" cy="741164"/>
          </a:xfrm>
          <a:prstGeom prst="rect">
            <a:avLst/>
          </a:prstGeom>
          <a:solidFill>
            <a:srgbClr val="5DADE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22763" y="2204889"/>
            <a:ext cx="0" cy="741164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8975" y="2306389"/>
            <a:ext cx="3656368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OIP gap: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PAM capability. Layer CyberArk or Vault on top of OIP for privileged access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13602" y="48058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ITDR &amp; Workload Identity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ITDR (Identity Threat Detection)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129004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CrowdStrike Falcon: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Unified endpoint + identity; inline AD/Entra prevention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Silverfort: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Agentless, proxyless; inline with AD auth flow; lowest OIP integration friction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 ID Protection: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ML risk signals; best for Microsoft-centric orgs (E5)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Identity (SPIFFE/SPIRE)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98950" y="1234827"/>
            <a:ext cx="3937099" cy="94461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CNCF Graduated (2022); Go; Apache 2.0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Short-lived SVIDs (X.509/JWT), auto-rotated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+ workload attestation (K8s, AWS, GCP)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Adopted: GitHub, Netflix, Uber, Pinterest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2255639"/>
            <a:ext cx="3937099" cy="972145"/>
          </a:xfrm>
          <a:prstGeom prst="rect">
            <a:avLst/>
          </a:prstGeom>
          <a:solidFill>
            <a:srgbClr val="5DADE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22763" y="2255639"/>
            <a:ext cx="0" cy="972145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8975" y="2357140"/>
            <a:ext cx="3656368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Complementary: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SPIFFE for east-west (service-to-service), OpenAM for north-south (user-to-app)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13602" y="48058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Years of Authentication Patterns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Ancient Parallels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234827"/>
            <a:ext cx="3937099" cy="173697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Cylinder seals (3500 BCE):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First possession-based auth → Hardware tokens, FIDO2 keys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Wax seals (Medieval):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Tamper-evident integrity → Digital signatures, JWT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Military passwords (Roman):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Shared secrets → Passwords, API keys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Letters of introduction: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Delegated trust → SAML assertions, OAuth tokens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950" y="945952"/>
            <a:ext cx="40158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5C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Themes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98950" y="1234827"/>
            <a:ext cx="3937099" cy="173697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Multi-factor is ancient: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Seals (possession) + signatures (knowledge) used together for millennia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Delegation always needed: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royal seals to OAuth scopes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Centralization cycles: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tribal elders to LDAP to decentralized identity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Revocation is always hard: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breaking seals to CRL/OCSP to short-lived tokens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13602" y="48058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806351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45952"/>
            <a:ext cx="8128099" cy="741164"/>
          </a:xfrm>
          <a:prstGeom prst="rect">
            <a:avLst/>
          </a:prstGeom>
          <a:solidFill>
            <a:srgbClr val="E74C3C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945952"/>
            <a:ext cx="0" cy="741164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7975" y="1047452"/>
            <a:ext cx="7931188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URGENT:</a:t>
            </a:r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Running ForgeRock CE 11.0.3? Migrate immediately. CVE-2021-35464 (CVSS 9.8) actively exploited, Metasploit module available.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1763316"/>
            <a:ext cx="8128099" cy="144229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OIP in production: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Viable. Pin to latest release, monitor CVEs, plan modernization roadmap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Greenfield, cloud-native: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Keycloak (self-hosted) or Auth0/Okta (SaaS) unless WS-Fed/XACML needed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Greenfield, microservices: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Ory Stack (max decomposition) or Zitadel (single binary)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integration: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OpenIG credential replay — no modern replacement exists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IGA: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SailPoint/Saviynt (commercial) or OpenIDM+OpenICF (budget/air-gap)</a:t>
            </a:r>
            <a:endParaRPr lang="en-US" sz="1200" dirty="0"/>
          </a:p>
          <a:p>
            <a:pPr algn="l" marL="127000" indent="-127000">
              <a:lnSpc>
                <a:spcPts val="156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Directory:</a:t>
            </a:r>
            <a:pPr algn="l" indent="0" marL="0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OpenDJ or 389 DS if LDAP required. Avoid new LDAP dependencies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13602" y="4805809"/>
            <a:ext cx="1297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15901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91000" y="1742926"/>
            <a:ext cx="762000" cy="3810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984177"/>
            <a:ext cx="777240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Access Management: Evolution, Architecture &amp; Modern Landscape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522488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Research: 7 repositories | 14 chapters | 8 extract files | ~15,000 lines of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837259"/>
            <a:ext cx="7772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documentation: github.com/kiriz/idp-research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&amp; Access Management: Evolution, Architecture &amp; Modern Landscape</dc:title>
  <dc:subject>PptxGenJS Presentation</dc:subject>
  <dc:creator>IAM Research</dc:creator>
  <cp:lastModifiedBy>IAM Research</cp:lastModifiedBy>
  <cp:revision>1</cp:revision>
  <dcterms:created xsi:type="dcterms:W3CDTF">2026-02-13T19:57:41Z</dcterms:created>
  <dcterms:modified xsi:type="dcterms:W3CDTF">2026-02-13T19:57:41Z</dcterms:modified>
</cp:coreProperties>
</file>